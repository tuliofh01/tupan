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-914400" y="5120640"/>
            <a:ext cx="13716000" cy="1828800"/>
          </a:xfrm>
          <a:prstGeom prst="arc">
            <a:avLst/>
          </a:prstGeom>
          <a:solidFill>
            <a:srgbClr val="2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914400" y="5486400"/>
            <a:ext cx="13716000" cy="1828800"/>
          </a:xfrm>
          <a:prstGeom prst="arc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5852160"/>
            <a:ext cx="13716000" cy="1828800"/>
          </a:xfrm>
          <a:prstGeom prst="arc">
            <a:avLst/>
          </a:prstGeom>
          <a:solidFill>
            <a:srgbClr val="40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TUPAN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DCEAF7"/>
                </a:solidFill>
                <a:latin typeface="Arial"/>
              </a:rPr>
              <a:t>MÁQUINA DE CHUVA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rial"/>
              </a:rPr>
              <a:t>Água potável do ar — sem compressor, sem gás refrigerante.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DCEAF7"/>
                </a:solidFill>
                <a:latin typeface="Arial"/>
              </a:rPr>
              <a:t>CaCl₂ → solenoide 120 °C → destilação → filtro mineralizante + UV-C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PUC-MG · Engenharia de Computação · IoT &amp; PLCs (2026.2)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Túlio Ferreira Horta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Escassez hídrica e o custo da água no semiárido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554480" cy="73152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SECA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847088"/>
            <a:ext cx="4206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Ciclos de estiagem recorrentes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554480" cy="73152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990088"/>
            <a:ext cx="4206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Aquíferos frequentemente salinizados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1554480" cy="73152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LOGÍSTICA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133088"/>
            <a:ext cx="4206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Dependência de caminhão-pipa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66360"/>
            <a:ext cx="1554480" cy="73152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PREÇO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276088"/>
            <a:ext cx="4206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Garrafinha chega a R$ 4,00/L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194560"/>
            <a:ext cx="4389120" cy="164592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2E7D32"/>
                </a:solidFill>
                <a:latin typeface="Arial"/>
              </a:rPr>
              <a:t>SOLUÇÃO:
produzir água potável
no ponto de uso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023360"/>
            <a:ext cx="4389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Arial"/>
              </a:rPr>
              <a:t>+30 milhões de pessoas
no semiárido brasileiro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O Tupan transforma umidade do ar em água potável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nder_corte_diu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5852160" cy="3597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9164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Arial"/>
              </a:rPr>
              <a:t>Ciclo químico-térmico, sem compressor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Sem compressor, sem gás refrigerante, silencioso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Aproveita a noite úmida e o calor do dia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Vidraria de laboratório reciclada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Filtro mineralizante + UV-C na bacia (2 L)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Monitoramento Bluetooth/MQTT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120640"/>
            <a:ext cx="2468880" cy="82296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E3A5F"/>
                </a:solidFill>
                <a:latin typeface="Arial"/>
              </a:rPr>
              <a:t>0,68 L potável/ciclo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5120640"/>
            <a:ext cx="2651760" cy="82296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E7D32"/>
                </a:solidFill>
                <a:latin typeface="Arial"/>
              </a:rPr>
              <a:t>0,43 L/kWh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Do ar úmido à água potável em 4 etapas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822960" cy="822960"/>
          </a:xfrm>
          <a:prstGeom prst="ellipse">
            <a:avLst/>
          </a:prstGeom>
          <a:solidFill>
            <a:srgbClr val="4070A0"/>
          </a:solidFill>
          <a:ln>
            <a:solidFill>
              <a:srgbClr val="40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4070A0"/>
                </a:solidFill>
                <a:latin typeface="Arial"/>
              </a:rPr>
              <a:t>SORÇÃO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Ar noturno úmido
+ leito de CaCl₂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2423160"/>
            <a:ext cx="1645920" cy="0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474720" y="2011680"/>
            <a:ext cx="822960" cy="822960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Arial"/>
              </a:rPr>
              <a:t>ISOLAMENTO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8328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Servo fecha o ar
e abre o vapor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89120" y="2423160"/>
            <a:ext cx="1645920" cy="0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309360" y="2011680"/>
            <a:ext cx="822960" cy="822960"/>
          </a:xfrm>
          <a:prstGeom prst="ellipse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E65100"/>
                </a:solidFill>
                <a:latin typeface="Arial"/>
              </a:rPr>
              <a:t>REGENERA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8328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Solenoide 120 °C
libera vapor puro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23760" y="2423160"/>
            <a:ext cx="1645920" cy="0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14400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926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Arial"/>
              </a:rPr>
              <a:t>POTÁVEL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38328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Filtro mineral + UV-C
→ bacia 2 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846320"/>
            <a:ext cx="6675120" cy="73152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E3A5F"/>
                </a:solidFill>
                <a:latin typeface="Arial"/>
              </a:rPr>
              <a:t>Ciclo diário: 8 h de sorção + 6 h de regeneração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O CICLO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Quatro etapas auditáveis — sem compressor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nder_ciclo_4et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39139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VALIDAÇÃO CLIMÁTICA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UR noturna e produção anual estimada por estado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pa_ur_notur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0"/>
            <a:ext cx="5669280" cy="4042876"/>
          </a:xfrm>
          <a:prstGeom prst="rect">
            <a:avLst/>
          </a:prstGeom>
        </p:spPr>
      </p:pic>
      <p:pic>
        <p:nvPicPr>
          <p:cNvPr id="6" name="Picture 5" descr="mapa_producao_a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54480"/>
            <a:ext cx="5669280" cy="401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6400800"/>
            <a:ext cx="6675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Arial"/>
              </a:rPr>
              <a:t>Reanálise Open-Meteo/ERA5 (2024) das 27 capitais + física do Tupan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PRODUÇÃO × UMIDADE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Por que a sorção noturna funciona no sertão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fico_producao_vs_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760720" cy="3307254"/>
          </a:xfrm>
          <a:prstGeom prst="rect">
            <a:avLst/>
          </a:prstGeom>
        </p:spPr>
      </p:pic>
      <p:pic>
        <p:nvPicPr>
          <p:cNvPr id="6" name="Picture 5" descr="grafico_ciclo_diur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2778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Arial"/>
              </a:rPr>
              <a:t>Regra de bolso: UR noturna ≥ 60 % ⇒ projeto-base; 40–60 % ⇒ ampliar leito; &lt; 40 % ⇒ não instalar.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ENERGIA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O solenoide domina o consumo — e há plano para solar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fico_balanco_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852160" cy="322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783080"/>
            <a:ext cx="51206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  <a:latin typeface="Arial"/>
              </a:rPr>
              <a:t>1,683 kWh por ciclo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4688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Solenoide 250 W × 6 h = 89 % do consumo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Ventoinhas 7,5 W, eletrônica 5 W, UV-C 6 W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0,43 L de água potável por kWh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Solarização como caminho para autonomia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5212080"/>
            <a:ext cx="5212080" cy="82296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E7D32"/>
                </a:solidFill>
                <a:latin typeface="Arial"/>
              </a:rPr>
              <a:t>→ geração distribuída fotovoltaica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CUSTO DA ÁGUA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Competitivo onde a rede não chega (R$/litro)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fico_custo_compar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852160" cy="3464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82880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"/>
              </a:spcAft>
            </a:pPr>
            <a:r>
              <a:rPr sz="1500">
                <a:solidFill>
                  <a:srgbClr val="595959"/>
                </a:solidFill>
                <a:latin typeface="Arial"/>
              </a:rPr>
              <a:t>• R$ 2,36/L na tarifa plena (rede + tributos)</a:t>
            </a:r>
          </a:p>
          <a:p>
            <a:pPr>
              <a:spcAft>
                <a:spcPts val="168"/>
              </a:spcAft>
            </a:pPr>
            <a:r>
              <a:rPr sz="1500">
                <a:solidFill>
                  <a:srgbClr val="595959"/>
                </a:solidFill>
                <a:latin typeface="Arial"/>
              </a:rPr>
              <a:t>• R$ 0,83/L com Tarifa Social (TSEE 65 %)</a:t>
            </a:r>
          </a:p>
          <a:p>
            <a:pPr>
              <a:spcAft>
                <a:spcPts val="168"/>
              </a:spcAft>
            </a:pPr>
            <a:r>
              <a:rPr sz="1500">
                <a:solidFill>
                  <a:srgbClr val="595959"/>
                </a:solidFill>
                <a:latin typeface="Arial"/>
              </a:rPr>
              <a:t>• Galão 20 L ≈ R$ 0,60/L (referência de mercado)</a:t>
            </a:r>
          </a:p>
          <a:p>
            <a:pPr>
              <a:spcAft>
                <a:spcPts val="168"/>
              </a:spcAft>
            </a:pPr>
            <a:r>
              <a:rPr sz="1500">
                <a:solidFill>
                  <a:srgbClr val="595959"/>
                </a:solidFill>
                <a:latin typeface="Arial"/>
              </a:rPr>
              <a:t>• Garrafinha 500 mL ≈ R$ 4,00/L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4754880"/>
            <a:ext cx="5212080" cy="100584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E3A5F"/>
                </a:solidFill>
                <a:latin typeface="Arial"/>
              </a:rPr>
              <a:t>O valor do Tupan é AUTONOMIA, não preço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PRODUÇÃO 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593,8 L/ano por unidade em Petrolina-PE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fico_projecao_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15600" cy="53811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Arial"/>
              </a:rPr>
              <a:t>Sazonalidade acompanha a umidade noturna: máximo no período chuvoso, mínimo na estiagem.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IMPACTO EM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A escala inverte virtudes — advertência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fico_impacto_e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247120" cy="46067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949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"/>
              </a:spcAft>
            </a:pPr>
            <a:r>
              <a:rPr sz="1300">
                <a:solidFill>
                  <a:srgbClr val="E65100"/>
                </a:solidFill>
                <a:latin typeface="Arial"/>
              </a:rPr>
              <a:t>• 100 mil unidades ⇒ ~24,7 ML/ano de água e ~61 GWh/ano de energia</a:t>
            </a:r>
          </a:p>
          <a:p>
            <a:pPr>
              <a:spcAft>
                <a:spcPts val="168"/>
              </a:spcAft>
            </a:pPr>
            <a:r>
              <a:rPr sz="1300">
                <a:solidFill>
                  <a:srgbClr val="E65100"/>
                </a:solidFill>
                <a:latin typeface="Arial"/>
              </a:rPr>
              <a:t>• 70–100 t de sal exaurido por década ⇒ logística reversa obrigatória</a:t>
            </a:r>
          </a:p>
          <a:p>
            <a:pPr>
              <a:spcAft>
                <a:spcPts val="168"/>
              </a:spcAft>
            </a:pPr>
            <a:r>
              <a:rPr sz="1300">
                <a:solidFill>
                  <a:srgbClr val="E65100"/>
                </a:solidFill>
                <a:latin typeface="Arial"/>
              </a:rPr>
              <a:t>• Solarização e descarte correto do dessecante são condições de contorno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TECNOLOGIA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Um núcleo, muitos consumidores — paridade garantida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nder_3d_conce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486400" cy="5154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73736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Núcleo C++23 header-only = fonte única da física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CLI, studio, Python (pybind11) e web (Flask) com os mesmos números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Arduino Mega 2560: firmware C++20, MVC + FSM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Sensores DHT22/DS18B20/nível; atuadores PWM, solenoide e servo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• 35 testes C++ + 21 testes 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120640"/>
            <a:ext cx="5669280" cy="82296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E7D32"/>
                </a:solidFill>
                <a:latin typeface="Arial"/>
              </a:rPr>
              <a:t>IoT: Bluetooth HC-05 + MQTT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STUDIO INTERATIVO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DCEAF7"/>
                </a:solidFill>
                <a:latin typeface="Arial"/>
              </a:rPr>
              <a:t>A UI é um script Lua (estilo JSON) — sem recompilar para mudar.</a:t>
            </a:r>
          </a:p>
        </p:txBody>
      </p:sp>
      <p:pic>
        <p:nvPicPr>
          <p:cNvPr id="4" name="Picture 3" descr="render_3d_conce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120640" cy="48110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2011680"/>
            <a:ext cx="5760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• DSL Lua lido com sol2 (menus, painéis e cena 3D)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• Dear ImGui + OpenGL 3.3 para janela e render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• Álgebra linear própria (Real=float, Mat4 com union)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• Runner headless com luaaa: scripts chamam tupan.*</a:t>
            </a:r>
          </a:p>
          <a:p>
            <a:pPr>
              <a:spcAft>
                <a:spcPts val="168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• Física real do núcleo ligada aos sliders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5303520"/>
            <a:ext cx="5760720" cy="7315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./build/tupan_studio   ·   ./build/tupan_script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APP COMPANHEIRO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Dashboard, sensores, controles e histórico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_01_pai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2468880" cy="4937760"/>
          </a:xfrm>
          <a:prstGeom prst="rect">
            <a:avLst/>
          </a:prstGeom>
        </p:spPr>
      </p:pic>
      <p:pic>
        <p:nvPicPr>
          <p:cNvPr id="6" name="Picture 5" descr="app_03_sens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45920"/>
            <a:ext cx="2468880" cy="4937760"/>
          </a:xfrm>
          <a:prstGeom prst="rect">
            <a:avLst/>
          </a:prstGeom>
        </p:spPr>
      </p:pic>
      <p:pic>
        <p:nvPicPr>
          <p:cNvPr id="7" name="Picture 6" descr="app_04_contro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45920"/>
            <a:ext cx="2468880" cy="4937760"/>
          </a:xfrm>
          <a:prstGeom prst="rect">
            <a:avLst/>
          </a:prstGeom>
        </p:spPr>
      </p:pic>
      <p:pic>
        <p:nvPicPr>
          <p:cNvPr id="8" name="Picture 7" descr="app_05_histori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1645920"/>
            <a:ext cx="2468880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Pareamento HC-05 (Bluetooth) e ponte MQTT · histórico auditável com export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Docker multi-stage + Jenkins → Kubernetes/VPS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2743200" cy="73152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IMAGENS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274320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Arial"/>
              </a:rPr>
              <a:t>docker/Dockerfile
build · core · web
(healthcheck /health)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743200" cy="73152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651760"/>
            <a:ext cx="274320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Arial"/>
              </a:rPr>
              <a:t>deploy/k8s
Deploy/Service/Ingress/HPA
runAsNonRoot + probes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37360"/>
            <a:ext cx="2743200" cy="7315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VPS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51760"/>
            <a:ext cx="274320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Arial"/>
              </a:rPr>
              <a:t>deploy/vps
systemd + nginx
TLS/reverse proxy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1737360"/>
            <a:ext cx="2743200" cy="73152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651760"/>
            <a:ext cx="274320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Arial"/>
              </a:rPr>
              <a:t>ci/Jenkinsfile
build+teste+mídia+push+deploy
GitHub Actions espelhado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937760"/>
            <a:ext cx="8503920" cy="82296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E3A5F"/>
                </a:solidFill>
                <a:latin typeface="Arial"/>
              </a:rPr>
              <a:t>Reprodutível: build → teste → mídia → imagem →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Onde o Tupan faz diferença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377440" cy="7315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COMUNIDADES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39" y="1847088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Semiárido, vilarejos, assentamentos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377440" cy="731520"/>
          </a:xfrm>
          <a:prstGeom prst="roundRect">
            <a:avLst/>
          </a:prstGeom>
          <a:solidFill>
            <a:srgbClr val="4070A0"/>
          </a:solidFill>
          <a:ln>
            <a:solidFill>
              <a:srgbClr val="40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EXPEDIÇÕES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847088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Trilhas, acampamentos, áreas remotas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377440" cy="73152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EMERGÊNCIA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4041648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Desastres naturais e crise hídrica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2377440" cy="73152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RESIDENCIAL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4041648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Casas, chácaras e uso diário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669280"/>
            <a:ext cx="6675120" cy="73152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E3A5F"/>
                </a:solidFill>
                <a:latin typeface="Arial"/>
              </a:rPr>
              <a:t>1 a 2 pessoas por ciclo · foco em consumo humano direto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PRÓXIMOS PASSOS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Protótipo funcional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DCEAF7"/>
                </a:solidFill>
                <a:latin typeface="Arial"/>
              </a:rPr>
              <a:t>montagem e testes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2423160"/>
            <a:ext cx="1645919" cy="0"/>
          </a:xfrm>
          <a:prstGeom prst="line">
            <a:avLst/>
          </a:prstGeom>
          <a:ln w="38100">
            <a:solidFill>
              <a:srgbClr val="78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65760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017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Validação de potabilidade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74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DCEAF7"/>
                </a:solidFill>
                <a:latin typeface="Arial"/>
              </a:rPr>
              <a:t>parâmetros ANVISA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423160"/>
            <a:ext cx="1645920" cy="0"/>
          </a:xfrm>
          <a:prstGeom prst="line">
            <a:avLst/>
          </a:prstGeom>
          <a:ln w="38100">
            <a:solidFill>
              <a:srgbClr val="78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9224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Piloto em comunidade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74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DCEAF7"/>
                </a:solidFill>
                <a:latin typeface="Arial"/>
              </a:rPr>
              <a:t>campo real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0" y="2423160"/>
            <a:ext cx="1645920" cy="0"/>
          </a:xfrm>
          <a:prstGeom prst="line">
            <a:avLst/>
          </a:prstGeom>
          <a:ln w="38100">
            <a:solidFill>
              <a:srgbClr val="78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32688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017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Escala sustentável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474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DCEAF7"/>
                </a:solidFill>
                <a:latin typeface="Arial"/>
              </a:rPr>
              <a:t>produção local + solar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Tupan, Máquina de Chuva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DCEAF7"/>
                </a:solidFill>
                <a:latin typeface="Arial"/>
              </a:rPr>
              <a:t>Água do ar. Onde você precisar.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github.com/tuliofh01/Tupan · 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Tupan, Máquina de Chuva | PUC-MG Engenharia de Computação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