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-914400" y="5120640"/>
            <a:ext cx="13716000" cy="1828800"/>
          </a:xfrm>
          <a:prstGeom prst="arc">
            <a:avLst/>
          </a:prstGeom>
          <a:solidFill>
            <a:srgbClr val="2E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914400" y="5486400"/>
            <a:ext cx="13716000" cy="1828800"/>
          </a:xfrm>
          <a:prstGeom prst="arc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5852160"/>
            <a:ext cx="13716000" cy="1828800"/>
          </a:xfrm>
          <a:prstGeom prst="arc">
            <a:avLst/>
          </a:prstGeom>
          <a:solidFill>
            <a:srgbClr val="40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TUPAN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 i="0">
                <a:solidFill>
                  <a:srgbClr val="DCEAF7"/>
                </a:solidFill>
                <a:latin typeface="Arial"/>
              </a:rPr>
              <a:t>WATER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Água do ar. Onde você precisar.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DCEAF7"/>
                </a:solidFill>
                <a:latin typeface="Arial"/>
              </a:rPr>
              <a:t>Dispositivo portátil de extração de água atmosférica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PUC-MG · Engenharia de Computação · IoT &amp; PLCs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Túlio Ferreira Horta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Escassez hídrica afeta milhões de pessoas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011680"/>
            <a:ext cx="1463040" cy="1463040"/>
          </a:xfrm>
          <a:prstGeom prst="ellipse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SECA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931920"/>
            <a:ext cx="1463040" cy="1463040"/>
          </a:xfrm>
          <a:prstGeom prst="ellipse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CUSTO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LOGÍSTICA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377440"/>
            <a:ext cx="137160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4297680"/>
            <a:ext cx="137160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86000" y="6217920"/>
            <a:ext cx="137160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1737360"/>
            <a:ext cx="3108960" cy="137160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E65100"/>
                </a:solidFill>
                <a:latin typeface="Arial"/>
              </a:rPr>
              <a:t>Nordeste brasileiro:
+ 30 milhões de pessoas
em situação de risco hídrico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383280"/>
            <a:ext cx="3108960" cy="137160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E65100"/>
                </a:solidFill>
                <a:latin typeface="Arial"/>
              </a:rPr>
              <a:t>Caminhão-pipa e garrafas:
preço elevado + emissões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5029200"/>
            <a:ext cx="3108960" cy="137160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E65100"/>
                </a:solidFill>
                <a:latin typeface="Arial"/>
              </a:rPr>
              <a:t>Dependência de infraestrutura
em áreas remotas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743200"/>
            <a:ext cx="3840480" cy="146304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2E7D32"/>
                </a:solidFill>
                <a:latin typeface="Arial"/>
              </a:rPr>
              <a:t>SOLUÇÃO:
extrair água do 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Tupan: água potável em qualquer lugar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jSketch_melhor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12064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828800"/>
            <a:ext cx="5303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Arial"/>
              </a:rPr>
              <a:t>O Tupan transforma umidade do ar em água potável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834640"/>
            <a:ext cx="1828800" cy="822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E3A5F"/>
                </a:solidFill>
                <a:latin typeface="Arial"/>
              </a:rPr>
              <a:t>PORTÁTIL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40"/>
            <a:ext cx="219456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E7D32"/>
                </a:solidFill>
                <a:latin typeface="Arial"/>
              </a:rPr>
              <a:t>SUSTENTÁVEL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2834640"/>
            <a:ext cx="1463040" cy="82296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E65100"/>
                </a:solidFill>
                <a:latin typeface="Arial"/>
              </a:rPr>
              <a:t>CONECTADO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023360"/>
            <a:ext cx="53035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  <a:latin typeface="Arial"/>
              </a:rPr>
              <a:t>• Bateria de carro interna
• Ligado na tomada
• Monitoramento via Bluetooth/MQTT
• Uso exclusivo para beber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Do ar úmido à água potável em 4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822960" cy="822960"/>
          </a:xfrm>
          <a:prstGeom prst="ellipse">
            <a:avLst/>
          </a:prstGeom>
          <a:solidFill>
            <a:srgbClr val="4070A0"/>
          </a:solidFill>
          <a:ln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4070A0"/>
                </a:solidFill>
                <a:latin typeface="Arial"/>
              </a:rPr>
              <a:t>CAPTA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Ventilador aspira
ar úmido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51460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474720" y="2103120"/>
            <a:ext cx="822960" cy="822960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632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Arial"/>
              </a:rPr>
              <a:t>CONDENSA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52044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Resfriamento abaixo
do ponto de orvalho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51460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09360" y="210312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Arial"/>
              </a:rPr>
              <a:t>FILTRA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Carvão ativado +
UV-C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2514600"/>
            <a:ext cx="1645920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44000" y="2103120"/>
            <a:ext cx="822960" cy="822960"/>
          </a:xfrm>
          <a:prstGeom prst="ellipse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632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E65100"/>
                </a:solidFill>
                <a:latin typeface="Arial"/>
              </a:rPr>
              <a:t>ARMAZENA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2044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Água pronta
para beber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937760"/>
            <a:ext cx="6126480" cy="73152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E3A5F"/>
                </a:solidFill>
                <a:latin typeface="Arial"/>
              </a:rPr>
              <a:t>Ciclo completo em até 8 horas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TECNOLOGIA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Hardware inteligente + conectividade 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quema_elet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669280" cy="4037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Arial"/>
              </a:rPr>
              <a:t>Cérebro eletrônico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286000"/>
            <a:ext cx="4206240" cy="82296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E3A5F"/>
                </a:solidFill>
                <a:latin typeface="Arial"/>
              </a:rPr>
              <a:t>ARDUINO MEGA 2560
ATmega2560 · 16MHz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383280"/>
            <a:ext cx="4206240" cy="82296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E65100"/>
                </a:solidFill>
                <a:latin typeface="Arial"/>
              </a:rPr>
              <a:t>BLUETOOTH HC-05
UART ↔ App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480560"/>
            <a:ext cx="420624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MQTT
Dashboard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5778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Arial"/>
              </a:rPr>
              <a:t>Sensores: temperatura · umidade · pressão · nível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Autonomia para levar água a qualquer lugar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fico_descarga_ba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Arial"/>
              </a:rPr>
              <a:t>Dual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4389120" cy="91440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1E3A5F"/>
                </a:solidFill>
                <a:latin typeface="Arial"/>
              </a:rPr>
              <a:t>BATERIA 12V 60Ah
~20h de operação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566160"/>
            <a:ext cx="438912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E7D32"/>
                </a:solidFill>
                <a:latin typeface="Arial"/>
              </a:rPr>
              <a:t>TOMADA 110/220V
uso contínuo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754880"/>
            <a:ext cx="4389120" cy="914400"/>
          </a:xfrm>
          <a:prstGeom prst="roundRect">
            <a:avLst/>
          </a:prstGeom>
          <a:solidFill>
            <a:srgbClr val="FFE0C8"/>
          </a:solidFill>
          <a:ln>
            <a:solidFill>
              <a:srgbClr val="FFE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E65100"/>
                </a:solidFill>
                <a:latin typeface="Arial"/>
              </a:rPr>
              <a:t>MODO ECO
até 6 dias em standby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SUSTENTABILIDADE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Menos desperdício, mais impacto positivo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xograma_recicl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9377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7373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2E7D32"/>
                </a:solidFill>
                <a:latin typeface="Arial"/>
              </a:rPr>
              <a:t>Impacto positivo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377440"/>
            <a:ext cx="237744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MATERIAIS
Reciclados + sucata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77440"/>
            <a:ext cx="237744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ENERGIA
Baixo consumo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566160"/>
            <a:ext cx="237744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PRODUTO
Uso para beber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566160"/>
            <a:ext cx="237744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E7D32"/>
                </a:solidFill>
                <a:latin typeface="Arial"/>
              </a:rPr>
              <a:t>RECICLAGEM
Reagentes reutilizáveis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029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595959"/>
                </a:solidFill>
                <a:latin typeface="Arial"/>
              </a:rPr>
              <a:t>Alinhado aos ODS 3, 6 e 12 da ONU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Onde o Tupan faz diferença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194560" cy="731520"/>
          </a:xfrm>
          <a:prstGeom prst="roundRect">
            <a:avLst/>
          </a:prstGeom>
          <a:solidFill>
            <a:srgbClr val="4070A0"/>
          </a:solidFill>
          <a:ln>
            <a:solidFill>
              <a:srgbClr val="4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EXPEDIÇÕES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Trilhas, acampamentos, áreas remotas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19456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COMUNIDADES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Semiárido, vilarejos, assentamentos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194560" cy="73152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EMERGÊNCIA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023359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Desastres naturais, crise hídrica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219456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023359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Casas, chácaras, uso diário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5669280"/>
            <a:ext cx="4297680" cy="731520"/>
          </a:xfrm>
          <a:prstGeom prst="roundRect">
            <a:avLst/>
          </a:prstGeom>
          <a:solidFill>
            <a:srgbClr val="DCEAF7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1E3A5F"/>
                </a:solidFill>
                <a:latin typeface="Arial"/>
              </a:rPr>
              <a:t>1 a 2 pessoas por ciclo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Arial"/>
              </a:rPr>
              <a:t>MODELO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Por que o Tupan é competitivo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E65100"/>
                </a:solidFill>
                <a:latin typeface="Arial"/>
              </a:rPr>
              <a:t>R$ 180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custo estimado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2E7D32"/>
                </a:solidFill>
                <a:latin typeface="Arial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8346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material reciclado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  <a:latin typeface="Arial"/>
              </a:rPr>
              <a:t>20h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autonomia em bateria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2560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4070A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8346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emissões locais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1E3A5F"/>
                </a:solidFill>
                <a:latin typeface="Arial"/>
              </a:rPr>
              <a:t>Água potável onde não há infraestrutura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595959"/>
                </a:solidFill>
                <a:latin typeface="Arial"/>
              </a:rPr>
              <a:t>Baixo custo · Alta mobilidade · Tecnologia acessível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PRÓXIMOS PASSOS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Protótipo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montagem e testes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423160"/>
            <a:ext cx="1645919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65760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Validação de qualidade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água potável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423160"/>
            <a:ext cx="1645920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Piloto em comunidade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campo real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2423160"/>
            <a:ext cx="1645920" cy="0"/>
          </a:xfrm>
          <a:prstGeom prst="line">
            <a:avLst/>
          </a:prstGeom>
          <a:ln w="38100">
            <a:solidFill>
              <a:srgbClr val="78A0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2688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017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Escala sustentável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474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DCEAF7"/>
                </a:solidFill>
                <a:latin typeface="Arial"/>
              </a:rPr>
              <a:t>produção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Tupan Water Maker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DCEAF7"/>
                </a:solidFill>
                <a:latin typeface="Arial"/>
              </a:rPr>
              <a:t>Água do ar. Onde você precisar.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Tupan Water Maker | PUC-MG Engenharia de Computação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37960"/>
            <a:ext cx="365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